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3" r:id="rId16"/>
    <p:sldId id="274" r:id="rId17"/>
    <p:sldId id="275" r:id="rId18"/>
    <p:sldId id="276" r:id="rId19"/>
    <p:sldId id="272" r:id="rId20"/>
    <p:sldId id="268" r:id="rId21"/>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6" d="100"/>
          <a:sy n="136" d="100"/>
        </p:scale>
        <p:origin x="81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17968" y="1643735"/>
            <a:ext cx="7508062" cy="636269"/>
          </a:xfrm>
          <a:prstGeom prst="rect">
            <a:avLst/>
          </a:prstGeom>
        </p:spPr>
        <p:txBody>
          <a:bodyPr wrap="square" lIns="0" tIns="0" rIns="0" bIns="0">
            <a:spAutoFit/>
          </a:bodyPr>
          <a:lstStyle>
            <a:lvl1pPr>
              <a:defRPr sz="2500" b="1" i="0">
                <a:solidFill>
                  <a:srgbClr val="990000"/>
                </a:solidFill>
                <a:latin typeface="Arial"/>
                <a:cs typeface="Aria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99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990000"/>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99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945004" y="141808"/>
            <a:ext cx="4908397" cy="603427"/>
          </a:xfrm>
          <a:prstGeom prst="rect">
            <a:avLst/>
          </a:prstGeom>
        </p:spPr>
        <p:txBody>
          <a:bodyPr wrap="square" lIns="0" tIns="0" rIns="0" bIns="0">
            <a:spAutoFit/>
          </a:bodyPr>
          <a:lstStyle>
            <a:lvl1pPr>
              <a:defRPr sz="2500" b="1" i="0">
                <a:solidFill>
                  <a:srgbClr val="990000"/>
                </a:solidFill>
                <a:latin typeface="Arial"/>
                <a:cs typeface="Arial"/>
              </a:defRPr>
            </a:lvl1pPr>
          </a:lstStyle>
          <a:p>
            <a:endParaRPr/>
          </a:p>
        </p:txBody>
      </p:sp>
      <p:sp>
        <p:nvSpPr>
          <p:cNvPr id="3" name="Holder 3"/>
          <p:cNvSpPr>
            <a:spLocks noGrp="1"/>
          </p:cNvSpPr>
          <p:nvPr>
            <p:ph type="body" idx="1"/>
          </p:nvPr>
        </p:nvSpPr>
        <p:spPr>
          <a:xfrm>
            <a:off x="480059" y="1269365"/>
            <a:ext cx="8052434" cy="112268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hyperlink" Target="https://1drv.ms/x/c/bad771eb01b100f6/IQAqgQ67lTELSqgl7Gn-mtNCAUkTF8JpSNJ1xoJhQLokk8s?e=a6aq6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817968" y="1643735"/>
            <a:ext cx="7508062" cy="321242"/>
          </a:xfrm>
          <a:prstGeom prst="rect">
            <a:avLst/>
          </a:prstGeom>
        </p:spPr>
        <p:txBody>
          <a:bodyPr vert="horz" wrap="square" lIns="0" tIns="13335" rIns="0" bIns="0" rtlCol="0">
            <a:spAutoFit/>
          </a:bodyPr>
          <a:lstStyle/>
          <a:p>
            <a:pPr algn="ctr"/>
            <a:r>
              <a:rPr lang="en-US" sz="2000" dirty="0">
                <a:solidFill>
                  <a:schemeClr val="tx1"/>
                </a:solidFill>
                <a:latin typeface="Times New Roman" panose="02020603050405020304" pitchFamily="18" charset="0"/>
                <a:cs typeface="Times New Roman" panose="02020603050405020304" pitchFamily="18" charset="0"/>
              </a:rPr>
              <a:t>SMART AI  INTERVIEW PRATICE PROTAL USING AIPS</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3394087" y="2654896"/>
            <a:ext cx="2354580" cy="391160"/>
          </a:xfrm>
          <a:prstGeom prst="rect">
            <a:avLst/>
          </a:prstGeom>
        </p:spPr>
        <p:txBody>
          <a:bodyPr vert="horz" wrap="square" lIns="0" tIns="12700" rIns="0" bIns="0" rtlCol="0">
            <a:spAutoFit/>
          </a:bodyPr>
          <a:lstStyle/>
          <a:p>
            <a:pPr marL="12700">
              <a:lnSpc>
                <a:spcPct val="100000"/>
              </a:lnSpc>
              <a:spcBef>
                <a:spcPts val="100"/>
              </a:spcBef>
            </a:pPr>
            <a:r>
              <a:rPr sz="2400" b="1">
                <a:solidFill>
                  <a:srgbClr val="0A5293"/>
                </a:solidFill>
                <a:latin typeface="Times New Roman"/>
                <a:cs typeface="Times New Roman"/>
              </a:rPr>
              <a:t>PRESENTED</a:t>
            </a:r>
            <a:r>
              <a:rPr sz="2400" b="1" spc="-95">
                <a:solidFill>
                  <a:srgbClr val="0A5293"/>
                </a:solidFill>
                <a:latin typeface="Times New Roman"/>
                <a:cs typeface="Times New Roman"/>
              </a:rPr>
              <a:t> </a:t>
            </a:r>
            <a:r>
              <a:rPr sz="2400" b="1" spc="-25">
                <a:solidFill>
                  <a:srgbClr val="0A5293"/>
                </a:solidFill>
                <a:latin typeface="Times New Roman"/>
                <a:cs typeface="Times New Roman"/>
              </a:rPr>
              <a:t>BY</a:t>
            </a:r>
            <a:endParaRPr sz="2400">
              <a:latin typeface="Times New Roman"/>
              <a:cs typeface="Times New Roman"/>
            </a:endParaRPr>
          </a:p>
        </p:txBody>
      </p:sp>
      <p:pic>
        <p:nvPicPr>
          <p:cNvPr id="4" name="object 4"/>
          <p:cNvPicPr/>
          <p:nvPr/>
        </p:nvPicPr>
        <p:blipFill>
          <a:blip r:embed="rId2" cstate="print"/>
          <a:stretch>
            <a:fillRect/>
          </a:stretch>
        </p:blipFill>
        <p:spPr>
          <a:xfrm>
            <a:off x="7830442" y="385691"/>
            <a:ext cx="790760" cy="780048"/>
          </a:xfrm>
          <a:prstGeom prst="rect">
            <a:avLst/>
          </a:prstGeom>
        </p:spPr>
      </p:pic>
      <p:pic>
        <p:nvPicPr>
          <p:cNvPr id="5" name="object 5"/>
          <p:cNvPicPr/>
          <p:nvPr/>
        </p:nvPicPr>
        <p:blipFill>
          <a:blip r:embed="rId3" cstate="print"/>
          <a:stretch>
            <a:fillRect/>
          </a:stretch>
        </p:blipFill>
        <p:spPr>
          <a:xfrm>
            <a:off x="173487" y="235172"/>
            <a:ext cx="4679904" cy="1234501"/>
          </a:xfrm>
          <a:prstGeom prst="rect">
            <a:avLst/>
          </a:prstGeom>
        </p:spPr>
      </p:pic>
      <p:sp>
        <p:nvSpPr>
          <p:cNvPr id="7" name="TextBox 6">
            <a:extLst>
              <a:ext uri="{FF2B5EF4-FFF2-40B4-BE49-F238E27FC236}">
                <a16:creationId xmlns:a16="http://schemas.microsoft.com/office/drawing/2014/main" id="{92B9371C-B022-54E4-16CF-8D77A3E73960}"/>
              </a:ext>
            </a:extLst>
          </p:cNvPr>
          <p:cNvSpPr txBox="1"/>
          <p:nvPr/>
        </p:nvSpPr>
        <p:spPr>
          <a:xfrm>
            <a:off x="1905000" y="3060460"/>
            <a:ext cx="6081309" cy="1785104"/>
          </a:xfrm>
          <a:prstGeom prst="rect">
            <a:avLst/>
          </a:prstGeom>
          <a:noFill/>
        </p:spPr>
        <p:txBody>
          <a:bodyPr wrap="square">
            <a:spAutoFit/>
          </a:bodyPr>
          <a:lstStyle/>
          <a:p>
            <a:pPr marL="36900" marR="0" lvl="0" indent="0" algn="ctr" rtl="0">
              <a:lnSpc>
                <a:spcPct val="150000"/>
              </a:lnSpc>
              <a:spcBef>
                <a:spcPts val="0"/>
              </a:spcBef>
              <a:spcAft>
                <a:spcPts val="0"/>
              </a:spcAft>
              <a:buClr>
                <a:schemeClr val="dk2"/>
              </a:buClr>
              <a:buSzPts val="1960"/>
              <a:buFont typeface="Noto Sans Symbols"/>
              <a:buNone/>
            </a:pPr>
            <a:r>
              <a:rPr lang="en-IN" sz="1800" b="1" i="0" u="none" strike="noStrike" cap="none" dirty="0">
                <a:solidFill>
                  <a:schemeClr val="dk1"/>
                </a:solidFill>
                <a:latin typeface="Times New Roman"/>
                <a:ea typeface="Times New Roman"/>
                <a:cs typeface="Times New Roman"/>
                <a:sym typeface="Times New Roman"/>
              </a:rPr>
              <a:t>PRADEEP K                              -    2403811724321075</a:t>
            </a:r>
          </a:p>
          <a:p>
            <a:pPr marL="36900" marR="0" lvl="0" indent="0" algn="ctr" rtl="0">
              <a:lnSpc>
                <a:spcPct val="150000"/>
              </a:lnSpc>
              <a:spcBef>
                <a:spcPts val="0"/>
              </a:spcBef>
              <a:spcAft>
                <a:spcPts val="0"/>
              </a:spcAft>
              <a:buClr>
                <a:schemeClr val="dk2"/>
              </a:buClr>
              <a:buSzPts val="1960"/>
              <a:buFont typeface="Noto Sans Symbols"/>
              <a:buNone/>
            </a:pPr>
            <a:r>
              <a:rPr lang="en-IN" sz="1800" b="1" dirty="0">
                <a:latin typeface="Times New Roman" panose="02020603050405020304" pitchFamily="18" charset="0"/>
                <a:cs typeface="Times New Roman" panose="02020603050405020304" pitchFamily="18" charset="0"/>
              </a:rPr>
              <a:t>SHANMUGA PRIYAN KS </a:t>
            </a:r>
            <a:r>
              <a:rPr lang="en-IN" sz="1800" b="1" dirty="0">
                <a:solidFill>
                  <a:schemeClr val="dk1"/>
                </a:solidFill>
                <a:latin typeface="Times New Roman"/>
                <a:ea typeface="Times New Roman"/>
                <a:cs typeface="Times New Roman"/>
                <a:sym typeface="Times New Roman"/>
              </a:rPr>
              <a:t>     -    2403811724321105</a:t>
            </a:r>
          </a:p>
          <a:p>
            <a:pPr marL="36900" lvl="0" algn="ctr">
              <a:spcBef>
                <a:spcPts val="1160"/>
              </a:spcBef>
              <a:buClr>
                <a:schemeClr val="dk2"/>
              </a:buClr>
              <a:buSzPts val="1960"/>
            </a:pPr>
            <a:r>
              <a:rPr lang="en-IN" sz="1800" b="1" dirty="0">
                <a:latin typeface="Times New Roman" panose="02020603050405020304" pitchFamily="18" charset="0"/>
                <a:cs typeface="Times New Roman" panose="02020603050405020304" pitchFamily="18" charset="0"/>
              </a:rPr>
              <a:t>VARSHA A                                -    2403811724322123</a:t>
            </a:r>
          </a:p>
          <a:p>
            <a:pPr marL="36900" lvl="0" algn="ctr">
              <a:spcBef>
                <a:spcPts val="1160"/>
              </a:spcBef>
              <a:buClr>
                <a:schemeClr val="dk2"/>
              </a:buClr>
              <a:buSzPts val="1960"/>
            </a:pPr>
            <a:r>
              <a:rPr lang="en-IN" sz="1800" b="1" dirty="0">
                <a:latin typeface="Times New Roman" panose="02020603050405020304" pitchFamily="18" charset="0"/>
                <a:cs typeface="Times New Roman" panose="02020603050405020304" pitchFamily="18" charset="0"/>
              </a:rPr>
              <a:t>VIGNESH K                              -    2403811724321124</a:t>
            </a:r>
          </a:p>
        </p:txBody>
      </p:sp>
      <p:sp>
        <p:nvSpPr>
          <p:cNvPr id="8" name="TextBox 7">
            <a:extLst>
              <a:ext uri="{FF2B5EF4-FFF2-40B4-BE49-F238E27FC236}">
                <a16:creationId xmlns:a16="http://schemas.microsoft.com/office/drawing/2014/main" id="{52B4AD34-B311-C88B-D34D-DF860206DC9C}"/>
              </a:ext>
            </a:extLst>
          </p:cNvPr>
          <p:cNvSpPr txBox="1"/>
          <p:nvPr/>
        </p:nvSpPr>
        <p:spPr>
          <a:xfrm>
            <a:off x="3581400" y="2121848"/>
            <a:ext cx="1676400"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BATCH - 14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0999" y="1123950"/>
            <a:ext cx="4908397" cy="3904915"/>
          </a:xfrm>
          <a:prstGeom prst="rect">
            <a:avLst/>
          </a:prstGeom>
        </p:spPr>
        <p:txBody>
          <a:bodyPr vert="horz" wrap="square" lIns="0" tIns="67310" rIns="0" bIns="0" rtlCol="0">
            <a:spAutoFit/>
          </a:bodyPr>
          <a:lstStyle/>
          <a:p>
            <a:pPr marL="393700" indent="-381000">
              <a:lnSpc>
                <a:spcPct val="100000"/>
              </a:lnSpc>
              <a:spcBef>
                <a:spcPts val="530"/>
              </a:spcBef>
              <a:buFont typeface="MS UI Gothic"/>
              <a:buChar char="➢"/>
              <a:tabLst>
                <a:tab pos="393700" algn="l"/>
              </a:tabLst>
            </a:pPr>
            <a:r>
              <a:rPr lang="en-US" sz="2400" dirty="0">
                <a:latin typeface="Times New Roman"/>
                <a:cs typeface="Times New Roman"/>
              </a:rPr>
              <a:t>Problem Statement </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Objective</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Literature Survey</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Existing System</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System Architecture</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Proposed System</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List of Modules</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Modules Description</a:t>
            </a:r>
          </a:p>
          <a:p>
            <a:pPr marL="393700" indent="-381000">
              <a:lnSpc>
                <a:spcPct val="100000"/>
              </a:lnSpc>
              <a:spcBef>
                <a:spcPts val="530"/>
              </a:spcBef>
              <a:buFont typeface="MS UI Gothic"/>
              <a:buChar char="➢"/>
              <a:tabLst>
                <a:tab pos="393700" algn="l"/>
              </a:tabLst>
            </a:pPr>
            <a:r>
              <a:rPr lang="en-US" sz="2400" dirty="0">
                <a:latin typeface="Times New Roman"/>
                <a:cs typeface="Times New Roman"/>
              </a:rPr>
              <a:t>Conclusion</a:t>
            </a:r>
            <a:endParaRPr sz="2400" dirty="0">
              <a:latin typeface="Times New Roman"/>
              <a:cs typeface="Times New Roman"/>
            </a:endParaRPr>
          </a:p>
        </p:txBody>
      </p:sp>
      <p:pic>
        <p:nvPicPr>
          <p:cNvPr id="3" name="object 3"/>
          <p:cNvPicPr/>
          <p:nvPr/>
        </p:nvPicPr>
        <p:blipFill>
          <a:blip r:embed="rId2" cstate="print"/>
          <a:stretch>
            <a:fillRect/>
          </a:stretch>
        </p:blipFill>
        <p:spPr>
          <a:xfrm>
            <a:off x="5929" y="5976"/>
            <a:ext cx="753105" cy="750047"/>
          </a:xfrm>
          <a:prstGeom prst="rect">
            <a:avLst/>
          </a:prstGeom>
        </p:spPr>
      </p:pic>
      <p:pic>
        <p:nvPicPr>
          <p:cNvPr id="4" name="object 4"/>
          <p:cNvPicPr/>
          <p:nvPr/>
        </p:nvPicPr>
        <p:blipFill>
          <a:blip r:embed="rId3" cstate="print"/>
          <a:stretch>
            <a:fillRect/>
          </a:stretch>
        </p:blipFill>
        <p:spPr>
          <a:xfrm>
            <a:off x="8319516" y="0"/>
            <a:ext cx="824483" cy="795527"/>
          </a:xfrm>
          <a:prstGeom prst="rect">
            <a:avLst/>
          </a:prstGeom>
        </p:spPr>
      </p:pic>
      <p:sp>
        <p:nvSpPr>
          <p:cNvPr id="5" name="object 5" descr="$PPTXTitle"/>
          <p:cNvSpPr txBox="1">
            <a:spLocks noGrp="1"/>
          </p:cNvSpPr>
          <p:nvPr>
            <p:ph type="title"/>
          </p:nvPr>
        </p:nvSpPr>
        <p:spPr>
          <a:prstGeom prst="rect">
            <a:avLst/>
          </a:prstGeom>
        </p:spPr>
        <p:txBody>
          <a:bodyPr vert="horz" wrap="square" lIns="0" tIns="12700" rIns="0" bIns="0" rtlCol="0">
            <a:spAutoFit/>
          </a:bodyPr>
          <a:lstStyle/>
          <a:p>
            <a:pPr marL="780415">
              <a:lnSpc>
                <a:spcPct val="100000"/>
              </a:lnSpc>
              <a:spcBef>
                <a:spcPts val="100"/>
              </a:spcBef>
            </a:pPr>
            <a:r>
              <a:rPr sz="2400" dirty="0"/>
              <a:t>PRESENTATION</a:t>
            </a:r>
            <a:r>
              <a:rPr sz="2400" spc="-110" dirty="0"/>
              <a:t> </a:t>
            </a:r>
            <a:r>
              <a:rPr sz="2400" spc="-10" dirty="0"/>
              <a:t>OVERVIEW</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29" y="5976"/>
            <a:ext cx="753105" cy="750047"/>
          </a:xfrm>
          <a:prstGeom prst="rect">
            <a:avLst/>
          </a:prstGeom>
        </p:spPr>
      </p:pic>
      <p:pic>
        <p:nvPicPr>
          <p:cNvPr id="3" name="object 3"/>
          <p:cNvPicPr/>
          <p:nvPr/>
        </p:nvPicPr>
        <p:blipFill>
          <a:blip r:embed="rId3" cstate="print"/>
          <a:stretch>
            <a:fillRect/>
          </a:stretch>
        </p:blipFill>
        <p:spPr>
          <a:xfrm>
            <a:off x="8319516" y="0"/>
            <a:ext cx="824483" cy="795527"/>
          </a:xfrm>
          <a:prstGeom prst="rect">
            <a:avLst/>
          </a:prstGeom>
        </p:spPr>
      </p:pic>
      <p:sp>
        <p:nvSpPr>
          <p:cNvPr id="4" name="object 4" descr="$PPTXTitle"/>
          <p:cNvSpPr txBox="1">
            <a:spLocks noGrp="1"/>
          </p:cNvSpPr>
          <p:nvPr>
            <p:ph type="title"/>
          </p:nvPr>
        </p:nvSpPr>
        <p:spPr>
          <a:xfrm>
            <a:off x="1945004" y="141808"/>
            <a:ext cx="4908397" cy="424270"/>
          </a:xfrm>
          <a:prstGeom prst="rect">
            <a:avLst/>
          </a:prstGeom>
        </p:spPr>
        <p:txBody>
          <a:bodyPr vert="horz" wrap="square" lIns="0" tIns="54407" rIns="0" bIns="0" rtlCol="0">
            <a:spAutoFit/>
          </a:bodyPr>
          <a:lstStyle/>
          <a:p>
            <a:pPr marL="420370">
              <a:lnSpc>
                <a:spcPct val="100000"/>
              </a:lnSpc>
              <a:spcBef>
                <a:spcPts val="100"/>
              </a:spcBef>
            </a:pPr>
            <a:r>
              <a:rPr sz="2400" dirty="0"/>
              <a:t>PROBLEM</a:t>
            </a:r>
            <a:r>
              <a:rPr sz="2400" spc="-80" dirty="0"/>
              <a:t> </a:t>
            </a:r>
            <a:r>
              <a:rPr lang="en-IN" sz="2400" spc="-10" dirty="0"/>
              <a:t>STATEMENT</a:t>
            </a:r>
            <a:endParaRPr sz="2400" dirty="0"/>
          </a:p>
        </p:txBody>
      </p:sp>
      <p:sp>
        <p:nvSpPr>
          <p:cNvPr id="5" name="object 5"/>
          <p:cNvSpPr txBox="1"/>
          <p:nvPr/>
        </p:nvSpPr>
        <p:spPr>
          <a:xfrm>
            <a:off x="533400" y="1504950"/>
            <a:ext cx="7848600" cy="1763560"/>
          </a:xfrm>
          <a:prstGeom prst="rect">
            <a:avLst/>
          </a:prstGeom>
        </p:spPr>
        <p:txBody>
          <a:bodyPr vert="horz" wrap="square" lIns="0" tIns="149860" rIns="0" bIns="0" rtlCol="0">
            <a:spAutoFit/>
          </a:bodyPr>
          <a:lstStyle/>
          <a:p>
            <a:pPr marL="12700" algn="just">
              <a:lnSpc>
                <a:spcPct val="150000"/>
              </a:lnSpc>
              <a:spcBef>
                <a:spcPts val="1180"/>
              </a:spcBef>
              <a:buSzPct val="88888"/>
              <a:tabLst>
                <a:tab pos="354330" algn="l"/>
              </a:tabLst>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Many students find it difficult to prepare effectively for technical and HR interviews. Traditional interview practice depends on mentors and fixed question sets, which provide limited personalization. Students lack instant and personalized feedback to understand and improve their interview performance.</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3351910" y="141808"/>
            <a:ext cx="1753235"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990000"/>
                </a:solidFill>
                <a:latin typeface="Arial"/>
                <a:cs typeface="Arial"/>
              </a:rPr>
              <a:t>OBJECTIVE</a:t>
            </a:r>
            <a:endParaRPr sz="2400">
              <a:latin typeface="Arial"/>
              <a:cs typeface="Arial"/>
            </a:endParaRPr>
          </a:p>
        </p:txBody>
      </p:sp>
      <p:pic>
        <p:nvPicPr>
          <p:cNvPr id="3" name="object 3"/>
          <p:cNvPicPr/>
          <p:nvPr/>
        </p:nvPicPr>
        <p:blipFill>
          <a:blip r:embed="rId2" cstate="print"/>
          <a:stretch>
            <a:fillRect/>
          </a:stretch>
        </p:blipFill>
        <p:spPr>
          <a:xfrm>
            <a:off x="5929" y="5976"/>
            <a:ext cx="753105" cy="750047"/>
          </a:xfrm>
          <a:prstGeom prst="rect">
            <a:avLst/>
          </a:prstGeom>
        </p:spPr>
      </p:pic>
      <p:pic>
        <p:nvPicPr>
          <p:cNvPr id="4" name="object 4"/>
          <p:cNvPicPr/>
          <p:nvPr/>
        </p:nvPicPr>
        <p:blipFill>
          <a:blip r:embed="rId3" cstate="print"/>
          <a:stretch>
            <a:fillRect/>
          </a:stretch>
        </p:blipFill>
        <p:spPr>
          <a:xfrm>
            <a:off x="8319516" y="0"/>
            <a:ext cx="824483" cy="795527"/>
          </a:xfrm>
          <a:prstGeom prst="rect">
            <a:avLst/>
          </a:prstGeom>
        </p:spPr>
      </p:pic>
      <p:sp>
        <p:nvSpPr>
          <p:cNvPr id="5" name="object 5"/>
          <p:cNvSpPr txBox="1"/>
          <p:nvPr/>
        </p:nvSpPr>
        <p:spPr>
          <a:xfrm>
            <a:off x="516255" y="1504950"/>
            <a:ext cx="8111490" cy="1209562"/>
          </a:xfrm>
          <a:prstGeom prst="rect">
            <a:avLst/>
          </a:prstGeom>
        </p:spPr>
        <p:txBody>
          <a:bodyPr vert="horz" wrap="square" lIns="0" tIns="12700" rIns="0" bIns="0" rtlCol="0">
            <a:spAutoFit/>
          </a:bodyPr>
          <a:lstStyle/>
          <a:p>
            <a:pPr lvl="1" algn="just">
              <a:lnSpc>
                <a:spcPct val="150000"/>
              </a:lnSpc>
            </a:pPr>
            <a:r>
              <a:rPr lang="en-IN" dirty="0">
                <a:latin typeface="Times New Roman" panose="02020603050405020304" pitchFamily="18" charset="0"/>
                <a:cs typeface="Times New Roman" panose="02020603050405020304" pitchFamily="18" charset="0"/>
              </a:rPr>
              <a:t>	Develop a smart interview practice portal for students. It conducts mock interviews with dynamic questions and evaluates the user’s responses. It provides instant scores, feedback, and suggestions to improve interview skills.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648970">
              <a:lnSpc>
                <a:spcPct val="100000"/>
              </a:lnSpc>
              <a:spcBef>
                <a:spcPts val="100"/>
              </a:spcBef>
            </a:pPr>
            <a:r>
              <a:rPr sz="2400" dirty="0"/>
              <a:t>LITERATURE</a:t>
            </a:r>
            <a:r>
              <a:rPr sz="2400" spc="-100" dirty="0"/>
              <a:t> </a:t>
            </a:r>
            <a:r>
              <a:rPr sz="2400" spc="-10" dirty="0"/>
              <a:t>SURVEY</a:t>
            </a:r>
            <a:endParaRPr sz="2400"/>
          </a:p>
        </p:txBody>
      </p:sp>
      <p:pic>
        <p:nvPicPr>
          <p:cNvPr id="3" name="object 3"/>
          <p:cNvPicPr/>
          <p:nvPr/>
        </p:nvPicPr>
        <p:blipFill>
          <a:blip r:embed="rId2" cstate="print"/>
          <a:stretch>
            <a:fillRect/>
          </a:stretch>
        </p:blipFill>
        <p:spPr>
          <a:xfrm>
            <a:off x="5929" y="5976"/>
            <a:ext cx="753105" cy="750047"/>
          </a:xfrm>
          <a:prstGeom prst="rect">
            <a:avLst/>
          </a:prstGeom>
        </p:spPr>
      </p:pic>
      <p:pic>
        <p:nvPicPr>
          <p:cNvPr id="4" name="object 4"/>
          <p:cNvPicPr/>
          <p:nvPr/>
        </p:nvPicPr>
        <p:blipFill>
          <a:blip r:embed="rId3" cstate="print"/>
          <a:stretch>
            <a:fillRect/>
          </a:stretch>
        </p:blipFill>
        <p:spPr>
          <a:xfrm>
            <a:off x="8319516" y="0"/>
            <a:ext cx="824483" cy="795527"/>
          </a:xfrm>
          <a:prstGeom prst="rect">
            <a:avLst/>
          </a:prstGeom>
        </p:spPr>
      </p:pic>
      <p:sp>
        <p:nvSpPr>
          <p:cNvPr id="6" name="TextBox 5">
            <a:extLst>
              <a:ext uri="{FF2B5EF4-FFF2-40B4-BE49-F238E27FC236}">
                <a16:creationId xmlns:a16="http://schemas.microsoft.com/office/drawing/2014/main" id="{21EDBC05-D2EA-40C3-DBDC-62F31B9BA8D7}"/>
              </a:ext>
            </a:extLst>
          </p:cNvPr>
          <p:cNvSpPr txBox="1"/>
          <p:nvPr/>
        </p:nvSpPr>
        <p:spPr>
          <a:xfrm>
            <a:off x="1219200" y="1962125"/>
            <a:ext cx="6477000" cy="873572"/>
          </a:xfrm>
          <a:prstGeom prst="rect">
            <a:avLst/>
          </a:prstGeom>
          <a:noFill/>
        </p:spPr>
        <p:txBody>
          <a:bodyPr wrap="square">
            <a:spAutoFit/>
          </a:bodyPr>
          <a:lstStyle/>
          <a:p>
            <a:pPr lvl="0" algn="ctr">
              <a:lnSpc>
                <a:spcPct val="150000"/>
              </a:lnSpc>
            </a:pPr>
            <a:r>
              <a:rPr lang="en-IN" sz="1800" dirty="0">
                <a:solidFill>
                  <a:schemeClr val="dk1"/>
                </a:solidFill>
                <a:latin typeface="Times New Roman"/>
                <a:ea typeface="Times New Roman"/>
                <a:cs typeface="Times New Roman"/>
                <a:sym typeface="Times New Roman"/>
                <a:hlinkClick r:id="rId4"/>
              </a:rPr>
              <a:t>https://1drv.ms/x/c/bad771eb01b100f6/IQAqgQ67lTELSqgl7Gn-mtNCAUkTF8JpSNJ1xoJhQLokk8s?e=a6aq6S</a:t>
            </a:r>
            <a:endParaRPr lang="en-IN"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29" y="5976"/>
            <a:ext cx="753105" cy="750047"/>
          </a:xfrm>
          <a:prstGeom prst="rect">
            <a:avLst/>
          </a:prstGeom>
        </p:spPr>
      </p:pic>
      <p:pic>
        <p:nvPicPr>
          <p:cNvPr id="3" name="object 3"/>
          <p:cNvPicPr/>
          <p:nvPr/>
        </p:nvPicPr>
        <p:blipFill>
          <a:blip r:embed="rId3" cstate="print"/>
          <a:stretch>
            <a:fillRect/>
          </a:stretch>
        </p:blipFill>
        <p:spPr>
          <a:xfrm>
            <a:off x="8319516" y="0"/>
            <a:ext cx="824483" cy="795527"/>
          </a:xfrm>
          <a:prstGeom prst="rect">
            <a:avLst/>
          </a:prstGeom>
        </p:spPr>
      </p:pic>
      <p:sp>
        <p:nvSpPr>
          <p:cNvPr id="4" name="object 4" descr="$PPTXTitle"/>
          <p:cNvSpPr txBox="1">
            <a:spLocks noGrp="1"/>
          </p:cNvSpPr>
          <p:nvPr>
            <p:ph type="title"/>
          </p:nvPr>
        </p:nvSpPr>
        <p:spPr>
          <a:prstGeom prst="rect">
            <a:avLst/>
          </a:prstGeom>
        </p:spPr>
        <p:txBody>
          <a:bodyPr vert="horz" wrap="square" lIns="0" tIns="54508" rIns="0" bIns="0" rtlCol="0">
            <a:spAutoFit/>
          </a:bodyPr>
          <a:lstStyle/>
          <a:p>
            <a:pPr marL="1214755">
              <a:lnSpc>
                <a:spcPct val="100000"/>
              </a:lnSpc>
              <a:spcBef>
                <a:spcPts val="100"/>
              </a:spcBef>
            </a:pPr>
            <a:r>
              <a:rPr sz="2400" dirty="0"/>
              <a:t>EXISTING</a:t>
            </a:r>
            <a:r>
              <a:rPr sz="2400" spc="-55" dirty="0"/>
              <a:t> </a:t>
            </a:r>
            <a:r>
              <a:rPr sz="2400" spc="-10" dirty="0"/>
              <a:t>SYSTEM</a:t>
            </a:r>
            <a:endParaRPr sz="2400"/>
          </a:p>
        </p:txBody>
      </p:sp>
      <p:sp>
        <p:nvSpPr>
          <p:cNvPr id="5" name="object 5"/>
          <p:cNvSpPr txBox="1"/>
          <p:nvPr/>
        </p:nvSpPr>
        <p:spPr>
          <a:xfrm>
            <a:off x="1295400" y="1504950"/>
            <a:ext cx="7543800" cy="2040559"/>
          </a:xfrm>
          <a:prstGeom prst="rect">
            <a:avLst/>
          </a:prstGeom>
        </p:spPr>
        <p:txBody>
          <a:bodyPr vert="horz" wrap="square" lIns="0" tIns="12700" rIns="0" bIns="0" rtlCol="0">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Uses predefined interview questions.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Limited personalization for individual users.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No instant AI-based answer evaluation.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Feedback mainly depends on trainers.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Limited performance and progress tracking.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a:cs typeface="Times New Roman"/>
              </a:rPr>
              <a:t>SYSTEM</a:t>
            </a:r>
            <a:r>
              <a:rPr sz="2800" spc="-40" dirty="0">
                <a:latin typeface="Times New Roman"/>
                <a:cs typeface="Times New Roman"/>
              </a:rPr>
              <a:t> </a:t>
            </a:r>
            <a:r>
              <a:rPr sz="2800" spc="-10" dirty="0">
                <a:latin typeface="Times New Roman"/>
                <a:cs typeface="Times New Roman"/>
              </a:rPr>
              <a:t>ARCHITECTURE</a:t>
            </a:r>
            <a:endParaRPr sz="2800">
              <a:latin typeface="Times New Roman"/>
              <a:cs typeface="Times New Roman"/>
            </a:endParaRPr>
          </a:p>
        </p:txBody>
      </p:sp>
      <p:pic>
        <p:nvPicPr>
          <p:cNvPr id="3" name="object 3"/>
          <p:cNvPicPr/>
          <p:nvPr/>
        </p:nvPicPr>
        <p:blipFill>
          <a:blip r:embed="rId2" cstate="print"/>
          <a:stretch>
            <a:fillRect/>
          </a:stretch>
        </p:blipFill>
        <p:spPr>
          <a:xfrm>
            <a:off x="8319516" y="0"/>
            <a:ext cx="824483" cy="795527"/>
          </a:xfrm>
          <a:prstGeom prst="rect">
            <a:avLst/>
          </a:prstGeom>
        </p:spPr>
      </p:pic>
      <p:pic>
        <p:nvPicPr>
          <p:cNvPr id="4" name="object 4"/>
          <p:cNvPicPr/>
          <p:nvPr/>
        </p:nvPicPr>
        <p:blipFill>
          <a:blip r:embed="rId3" cstate="print"/>
          <a:stretch>
            <a:fillRect/>
          </a:stretch>
        </p:blipFill>
        <p:spPr>
          <a:xfrm>
            <a:off x="5929" y="5976"/>
            <a:ext cx="753105" cy="750047"/>
          </a:xfrm>
          <a:prstGeom prst="rect">
            <a:avLst/>
          </a:prstGeom>
        </p:spPr>
      </p:pic>
      <p:pic>
        <p:nvPicPr>
          <p:cNvPr id="7" name="Picture 6">
            <a:extLst>
              <a:ext uri="{FF2B5EF4-FFF2-40B4-BE49-F238E27FC236}">
                <a16:creationId xmlns:a16="http://schemas.microsoft.com/office/drawing/2014/main" id="{231A0319-40DF-5554-A50A-C914FC3225C8}"/>
              </a:ext>
            </a:extLst>
          </p:cNvPr>
          <p:cNvPicPr>
            <a:picLocks noChangeAspect="1"/>
          </p:cNvPicPr>
          <p:nvPr/>
        </p:nvPicPr>
        <p:blipFill>
          <a:blip r:embed="rId4">
            <a:extLst>
              <a:ext uri="{28A0092B-C50C-407E-A947-70E740481C1C}">
                <a14:useLocalDpi xmlns:a14="http://schemas.microsoft.com/office/drawing/2010/main" val="0"/>
              </a:ext>
            </a:extLst>
          </a:blip>
          <a:srcRect t="17407"/>
          <a:stretch>
            <a:fillRect/>
          </a:stretch>
        </p:blipFill>
        <p:spPr>
          <a:xfrm>
            <a:off x="1066800" y="895350"/>
            <a:ext cx="7126549" cy="392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 name="object 81"/>
          <p:cNvPicPr/>
          <p:nvPr/>
        </p:nvPicPr>
        <p:blipFill>
          <a:blip r:embed="rId2" cstate="print"/>
          <a:stretch>
            <a:fillRect/>
          </a:stretch>
        </p:blipFill>
        <p:spPr>
          <a:xfrm>
            <a:off x="86915" y="5976"/>
            <a:ext cx="780216" cy="750047"/>
          </a:xfrm>
          <a:prstGeom prst="rect">
            <a:avLst/>
          </a:prstGeom>
        </p:spPr>
      </p:pic>
      <p:pic>
        <p:nvPicPr>
          <p:cNvPr id="82" name="object 82"/>
          <p:cNvPicPr/>
          <p:nvPr/>
        </p:nvPicPr>
        <p:blipFill>
          <a:blip r:embed="rId3" cstate="print"/>
          <a:stretch>
            <a:fillRect/>
          </a:stretch>
        </p:blipFill>
        <p:spPr>
          <a:xfrm>
            <a:off x="8319516" y="0"/>
            <a:ext cx="824483" cy="797051"/>
          </a:xfrm>
          <a:prstGeom prst="rect">
            <a:avLst/>
          </a:prstGeom>
        </p:spPr>
      </p:pic>
      <p:sp>
        <p:nvSpPr>
          <p:cNvPr id="83" name="object 83" descr="$PPTXTitle"/>
          <p:cNvSpPr txBox="1">
            <a:spLocks noGrp="1"/>
          </p:cNvSpPr>
          <p:nvPr>
            <p:ph type="title"/>
          </p:nvPr>
        </p:nvSpPr>
        <p:spPr>
          <a:prstGeom prst="rect">
            <a:avLst/>
          </a:prstGeom>
        </p:spPr>
        <p:txBody>
          <a:bodyPr vert="horz" wrap="square" lIns="0" tIns="54508" rIns="0" bIns="0" rtlCol="0">
            <a:spAutoFit/>
          </a:bodyPr>
          <a:lstStyle/>
          <a:p>
            <a:pPr marL="1061720">
              <a:lnSpc>
                <a:spcPct val="100000"/>
              </a:lnSpc>
              <a:spcBef>
                <a:spcPts val="100"/>
              </a:spcBef>
            </a:pPr>
            <a:r>
              <a:rPr sz="2400" dirty="0"/>
              <a:t>PROPOSED</a:t>
            </a:r>
            <a:r>
              <a:rPr sz="2400" spc="-65" dirty="0"/>
              <a:t> </a:t>
            </a:r>
            <a:r>
              <a:rPr sz="2400" spc="-10" dirty="0"/>
              <a:t>SYSTEM</a:t>
            </a:r>
            <a:endParaRPr sz="2400"/>
          </a:p>
        </p:txBody>
      </p:sp>
      <p:sp>
        <p:nvSpPr>
          <p:cNvPr id="86" name="TextBox 85">
            <a:extLst>
              <a:ext uri="{FF2B5EF4-FFF2-40B4-BE49-F238E27FC236}">
                <a16:creationId xmlns:a16="http://schemas.microsoft.com/office/drawing/2014/main" id="{A3130FF0-C87C-11DA-2F2A-3138FC7AF524}"/>
              </a:ext>
            </a:extLst>
          </p:cNvPr>
          <p:cNvSpPr txBox="1"/>
          <p:nvPr/>
        </p:nvSpPr>
        <p:spPr>
          <a:xfrm>
            <a:off x="914400" y="1428750"/>
            <a:ext cx="7133869" cy="2120068"/>
          </a:xfrm>
          <a:prstGeom prst="rect">
            <a:avLst/>
          </a:prstGeom>
          <a:noFill/>
        </p:spPr>
        <p:txBody>
          <a:bodyPr wrap="square">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Generates interview questions dynamically using AI.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Supports Technical, HR, Aptitude and Coding practice.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Evaluates answers using AI/NLP techniques.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Provides instant feedback and improvement suggestions.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Maintains interview history for tracking progress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45004" y="141808"/>
            <a:ext cx="4908397" cy="424372"/>
          </a:xfrm>
          <a:prstGeom prst="rect">
            <a:avLst/>
          </a:prstGeom>
        </p:spPr>
        <p:txBody>
          <a:bodyPr vert="horz" wrap="square" lIns="0" tIns="54508" rIns="0" bIns="0" rtlCol="0">
            <a:spAutoFit/>
          </a:bodyPr>
          <a:lstStyle/>
          <a:p>
            <a:pPr marL="1398270">
              <a:lnSpc>
                <a:spcPct val="100000"/>
              </a:lnSpc>
              <a:spcBef>
                <a:spcPts val="100"/>
              </a:spcBef>
            </a:pPr>
            <a:r>
              <a:rPr lang="en-IN" sz="2400" dirty="0"/>
              <a:t>LIST OF </a:t>
            </a:r>
            <a:r>
              <a:rPr sz="2400" dirty="0"/>
              <a:t>MODULES</a:t>
            </a:r>
            <a:r>
              <a:rPr sz="2400" spc="-75" dirty="0"/>
              <a:t> </a:t>
            </a:r>
            <a:endParaRPr sz="2400" dirty="0"/>
          </a:p>
        </p:txBody>
      </p:sp>
      <p:pic>
        <p:nvPicPr>
          <p:cNvPr id="3" name="object 3"/>
          <p:cNvPicPr/>
          <p:nvPr/>
        </p:nvPicPr>
        <p:blipFill>
          <a:blip r:embed="rId2" cstate="print"/>
          <a:stretch>
            <a:fillRect/>
          </a:stretch>
        </p:blipFill>
        <p:spPr>
          <a:xfrm>
            <a:off x="5929" y="5976"/>
            <a:ext cx="753105" cy="750047"/>
          </a:xfrm>
          <a:prstGeom prst="rect">
            <a:avLst/>
          </a:prstGeom>
        </p:spPr>
      </p:pic>
      <p:pic>
        <p:nvPicPr>
          <p:cNvPr id="4" name="object 4"/>
          <p:cNvPicPr/>
          <p:nvPr/>
        </p:nvPicPr>
        <p:blipFill>
          <a:blip r:embed="rId3" cstate="print"/>
          <a:stretch>
            <a:fillRect/>
          </a:stretch>
        </p:blipFill>
        <p:spPr>
          <a:xfrm>
            <a:off x="8319516" y="0"/>
            <a:ext cx="824483" cy="795527"/>
          </a:xfrm>
          <a:prstGeom prst="rect">
            <a:avLst/>
          </a:prstGeom>
        </p:spPr>
      </p:pic>
      <p:sp>
        <p:nvSpPr>
          <p:cNvPr id="5" name="object 5"/>
          <p:cNvSpPr txBox="1"/>
          <p:nvPr/>
        </p:nvSpPr>
        <p:spPr>
          <a:xfrm>
            <a:off x="1295400" y="1276350"/>
            <a:ext cx="5558000" cy="2040559"/>
          </a:xfrm>
          <a:prstGeom prst="rect">
            <a:avLst/>
          </a:prstGeom>
        </p:spPr>
        <p:txBody>
          <a:bodyPr vert="horz" wrap="square" lIns="0" tIns="12700" rIns="0" bIns="0" rtlCol="0">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Question Generation Module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Answer Evaluation Module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AI Follow-up &amp; Adaptive Interview Module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STAR &amp; Skill Gap Analysis Module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Performance Dashboard &amp; Interview History Module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79171" rIns="0" bIns="0" rtlCol="0">
            <a:spAutoFit/>
          </a:bodyPr>
          <a:lstStyle/>
          <a:p>
            <a:pPr marL="810895">
              <a:lnSpc>
                <a:spcPct val="100000"/>
              </a:lnSpc>
              <a:spcBef>
                <a:spcPts val="95"/>
              </a:spcBef>
            </a:pPr>
            <a:r>
              <a:rPr dirty="0"/>
              <a:t>MODULE</a:t>
            </a:r>
            <a:r>
              <a:rPr spc="-55" dirty="0"/>
              <a:t> </a:t>
            </a:r>
            <a:r>
              <a:rPr spc="-10" dirty="0"/>
              <a:t>DESCRIPTION</a:t>
            </a:r>
          </a:p>
        </p:txBody>
      </p:sp>
      <p:pic>
        <p:nvPicPr>
          <p:cNvPr id="3" name="object 3"/>
          <p:cNvPicPr/>
          <p:nvPr/>
        </p:nvPicPr>
        <p:blipFill>
          <a:blip r:embed="rId2" cstate="print"/>
          <a:stretch>
            <a:fillRect/>
          </a:stretch>
        </p:blipFill>
        <p:spPr>
          <a:xfrm>
            <a:off x="244901" y="260765"/>
            <a:ext cx="715449" cy="594037"/>
          </a:xfrm>
          <a:prstGeom prst="rect">
            <a:avLst/>
          </a:prstGeom>
        </p:spPr>
      </p:pic>
      <p:pic>
        <p:nvPicPr>
          <p:cNvPr id="4" name="object 4"/>
          <p:cNvPicPr/>
          <p:nvPr/>
        </p:nvPicPr>
        <p:blipFill>
          <a:blip r:embed="rId3" cstate="print"/>
          <a:stretch>
            <a:fillRect/>
          </a:stretch>
        </p:blipFill>
        <p:spPr>
          <a:xfrm>
            <a:off x="8177783" y="256031"/>
            <a:ext cx="653796" cy="557784"/>
          </a:xfrm>
          <a:prstGeom prst="rect">
            <a:avLst/>
          </a:prstGeom>
        </p:spPr>
      </p:pic>
      <p:sp>
        <p:nvSpPr>
          <p:cNvPr id="5" name="object 5"/>
          <p:cNvSpPr txBox="1"/>
          <p:nvPr/>
        </p:nvSpPr>
        <p:spPr>
          <a:xfrm>
            <a:off x="391159" y="1061085"/>
            <a:ext cx="8363584" cy="321242"/>
          </a:xfrm>
          <a:prstGeom prst="rect">
            <a:avLst/>
          </a:prstGeom>
        </p:spPr>
        <p:txBody>
          <a:bodyPr vert="horz" wrap="square" lIns="0" tIns="13335" rIns="0" bIns="0" rtlCol="0">
            <a:spAutoFit/>
          </a:bodyPr>
          <a:lstStyle/>
          <a:p>
            <a:pPr marL="12700">
              <a:spcBef>
                <a:spcPts val="105"/>
              </a:spcBef>
            </a:pPr>
            <a:r>
              <a:rPr lang="en-IN" sz="2000" b="1" dirty="0">
                <a:latin typeface="Times New Roman" panose="02020603050405020304" pitchFamily="18" charset="0"/>
                <a:cs typeface="Times New Roman" panose="02020603050405020304" pitchFamily="18" charset="0"/>
              </a:rPr>
              <a:t> Question Generation Module</a:t>
            </a:r>
            <a:r>
              <a:rPr sz="2000" b="1" spc="-50" dirty="0">
                <a:latin typeface="Times New Roman"/>
                <a:cs typeface="Times New Roman"/>
              </a:rPr>
              <a:t>:</a:t>
            </a:r>
            <a:r>
              <a:rPr lang="en-US" sz="1800"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85DCD08F-D31C-DAB8-9A78-6DFB06DAD915}"/>
              </a:ext>
            </a:extLst>
          </p:cNvPr>
          <p:cNvSpPr txBox="1"/>
          <p:nvPr/>
        </p:nvSpPr>
        <p:spPr>
          <a:xfrm>
            <a:off x="960350" y="1588610"/>
            <a:ext cx="6085876" cy="2120068"/>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Generates questions based on the selected interview type.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Covers HR, Technical, Aptitude and Coding areas.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Adjusts question difficulty based on performance. </a:t>
            </a:r>
          </a:p>
          <a:p>
            <a:pPr algn="l">
              <a:lnSpc>
                <a:spcPct val="150000"/>
              </a:lnSpc>
            </a:pPr>
            <a:endParaRPr lang="en-IN"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79171" rIns="0" bIns="0" rtlCol="0">
            <a:spAutoFit/>
          </a:bodyPr>
          <a:lstStyle/>
          <a:p>
            <a:pPr marL="810895">
              <a:lnSpc>
                <a:spcPct val="100000"/>
              </a:lnSpc>
              <a:spcBef>
                <a:spcPts val="95"/>
              </a:spcBef>
            </a:pPr>
            <a:r>
              <a:rPr dirty="0"/>
              <a:t>MODULE</a:t>
            </a:r>
            <a:r>
              <a:rPr spc="-55" dirty="0"/>
              <a:t> </a:t>
            </a:r>
            <a:r>
              <a:rPr spc="-10" dirty="0"/>
              <a:t>DESCRIPTION</a:t>
            </a:r>
          </a:p>
        </p:txBody>
      </p:sp>
      <p:pic>
        <p:nvPicPr>
          <p:cNvPr id="3" name="object 3"/>
          <p:cNvPicPr/>
          <p:nvPr/>
        </p:nvPicPr>
        <p:blipFill>
          <a:blip r:embed="rId2" cstate="print"/>
          <a:stretch>
            <a:fillRect/>
          </a:stretch>
        </p:blipFill>
        <p:spPr>
          <a:xfrm>
            <a:off x="316683" y="260765"/>
            <a:ext cx="735030" cy="594037"/>
          </a:xfrm>
          <a:prstGeom prst="rect">
            <a:avLst/>
          </a:prstGeom>
        </p:spPr>
      </p:pic>
      <p:pic>
        <p:nvPicPr>
          <p:cNvPr id="4" name="object 4"/>
          <p:cNvPicPr/>
          <p:nvPr/>
        </p:nvPicPr>
        <p:blipFill>
          <a:blip r:embed="rId3" cstate="print"/>
          <a:stretch>
            <a:fillRect/>
          </a:stretch>
        </p:blipFill>
        <p:spPr>
          <a:xfrm>
            <a:off x="8177783" y="256031"/>
            <a:ext cx="653796" cy="557784"/>
          </a:xfrm>
          <a:prstGeom prst="rect">
            <a:avLst/>
          </a:prstGeom>
        </p:spPr>
      </p:pic>
      <p:sp>
        <p:nvSpPr>
          <p:cNvPr id="5" name="object 5"/>
          <p:cNvSpPr txBox="1"/>
          <p:nvPr/>
        </p:nvSpPr>
        <p:spPr>
          <a:xfrm>
            <a:off x="390525" y="1066164"/>
            <a:ext cx="8144509" cy="321242"/>
          </a:xfrm>
          <a:prstGeom prst="rect">
            <a:avLst/>
          </a:prstGeom>
        </p:spPr>
        <p:txBody>
          <a:bodyPr vert="horz" wrap="square" lIns="0" tIns="13335" rIns="0" bIns="0" rtlCol="0">
            <a:spAutoFit/>
          </a:bodyPr>
          <a:lstStyle/>
          <a:p>
            <a:pPr marL="12700">
              <a:spcBef>
                <a:spcPts val="105"/>
              </a:spcBef>
            </a:pPr>
            <a:r>
              <a:rPr sz="2000" b="1" spc="-40" dirty="0">
                <a:latin typeface="Times New Roman"/>
                <a:cs typeface="Times New Roman"/>
              </a:rPr>
              <a:t> </a:t>
            </a:r>
            <a:r>
              <a:rPr lang="en-IN" sz="2000" b="1" dirty="0">
                <a:latin typeface="Times New Roman" panose="02020603050405020304" pitchFamily="18" charset="0"/>
                <a:cs typeface="Times New Roman" panose="02020603050405020304" pitchFamily="18" charset="0"/>
              </a:rPr>
              <a:t>Answer Evaluation (AI/NLP) Module</a:t>
            </a:r>
            <a:r>
              <a:rPr sz="2000" b="1" spc="-30" dirty="0">
                <a:latin typeface="Times New Roman"/>
                <a:cs typeface="Times New Roman"/>
              </a:rPr>
              <a:t> </a:t>
            </a:r>
            <a:r>
              <a:rPr sz="2000" b="1" spc="-50" dirty="0">
                <a:latin typeface="Times New Roman"/>
                <a:cs typeface="Times New Roman"/>
              </a:rPr>
              <a:t>:</a:t>
            </a:r>
            <a:endParaRPr sz="2000" dirty="0">
              <a:latin typeface="Times New Roman"/>
              <a:cs typeface="Times New Roman"/>
            </a:endParaRPr>
          </a:p>
        </p:txBody>
      </p:sp>
      <p:sp>
        <p:nvSpPr>
          <p:cNvPr id="6" name="TextBox 5">
            <a:extLst>
              <a:ext uri="{FF2B5EF4-FFF2-40B4-BE49-F238E27FC236}">
                <a16:creationId xmlns:a16="http://schemas.microsoft.com/office/drawing/2014/main" id="{02D6F8AB-25E7-1794-C253-8D48F138C802}"/>
              </a:ext>
            </a:extLst>
          </p:cNvPr>
          <p:cNvSpPr txBox="1"/>
          <p:nvPr/>
        </p:nvSpPr>
        <p:spPr>
          <a:xfrm>
            <a:off x="838200" y="1809750"/>
            <a:ext cx="5791200" cy="1288751"/>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Analyzes user responses using NLP. </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Checks relevance, grammar, and confidence. </a:t>
            </a:r>
          </a:p>
          <a:p>
            <a:pPr marL="285750" lvl="0" indent="-285750" eaLnBrk="0" fontAlgn="base" hangingPunct="0">
              <a:lnSpc>
                <a:spcPct val="150000"/>
              </a:lnSpc>
              <a:spcBef>
                <a:spcPct val="0"/>
              </a:spcBef>
              <a:spcAft>
                <a:spcPct val="0"/>
              </a:spcAft>
              <a:buClrTx/>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Provides suggestions to improve future performance.</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A247674-CF1E-3BA7-E91B-2EE82C2FA1B9}"/>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5C6A189A-038D-CAC6-380C-4EB5D6D0C331}"/>
              </a:ext>
            </a:extLst>
          </p:cNvPr>
          <p:cNvSpPr txBox="1">
            <a:spLocks noGrp="1"/>
          </p:cNvSpPr>
          <p:nvPr>
            <p:ph type="title"/>
          </p:nvPr>
        </p:nvSpPr>
        <p:spPr>
          <a:prstGeom prst="rect">
            <a:avLst/>
          </a:prstGeom>
        </p:spPr>
        <p:txBody>
          <a:bodyPr vert="horz" wrap="square" lIns="0" tIns="79171" rIns="0" bIns="0" rtlCol="0">
            <a:spAutoFit/>
          </a:bodyPr>
          <a:lstStyle/>
          <a:p>
            <a:pPr marL="810895">
              <a:lnSpc>
                <a:spcPct val="100000"/>
              </a:lnSpc>
              <a:spcBef>
                <a:spcPts val="95"/>
              </a:spcBef>
            </a:pPr>
            <a:r>
              <a:rPr dirty="0"/>
              <a:t>MODULE</a:t>
            </a:r>
            <a:r>
              <a:rPr spc="-55" dirty="0"/>
              <a:t> </a:t>
            </a:r>
            <a:r>
              <a:rPr spc="-10" dirty="0"/>
              <a:t>DESCRIPTION</a:t>
            </a:r>
          </a:p>
        </p:txBody>
      </p:sp>
      <p:pic>
        <p:nvPicPr>
          <p:cNvPr id="3" name="object 3">
            <a:extLst>
              <a:ext uri="{FF2B5EF4-FFF2-40B4-BE49-F238E27FC236}">
                <a16:creationId xmlns:a16="http://schemas.microsoft.com/office/drawing/2014/main" id="{4A58B6DA-FB4C-071C-FF5F-FE8D070F4BED}"/>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D43161A2-2AC8-A417-E161-18BFD071D1C0}"/>
              </a:ext>
            </a:extLst>
          </p:cNvPr>
          <p:cNvPicPr/>
          <p:nvPr/>
        </p:nvPicPr>
        <p:blipFill>
          <a:blip r:embed="rId3" cstate="print"/>
          <a:stretch>
            <a:fillRect/>
          </a:stretch>
        </p:blipFill>
        <p:spPr>
          <a:xfrm>
            <a:off x="8177783" y="256031"/>
            <a:ext cx="653796" cy="557784"/>
          </a:xfrm>
          <a:prstGeom prst="rect">
            <a:avLst/>
          </a:prstGeom>
        </p:spPr>
      </p:pic>
      <p:sp>
        <p:nvSpPr>
          <p:cNvPr id="5" name="object 5">
            <a:extLst>
              <a:ext uri="{FF2B5EF4-FFF2-40B4-BE49-F238E27FC236}">
                <a16:creationId xmlns:a16="http://schemas.microsoft.com/office/drawing/2014/main" id="{08316FD8-6DFF-60C0-2821-F9D412F16EA3}"/>
              </a:ext>
            </a:extLst>
          </p:cNvPr>
          <p:cNvSpPr txBox="1"/>
          <p:nvPr/>
        </p:nvSpPr>
        <p:spPr>
          <a:xfrm>
            <a:off x="390525" y="1066164"/>
            <a:ext cx="8144509" cy="321242"/>
          </a:xfrm>
          <a:prstGeom prst="rect">
            <a:avLst/>
          </a:prstGeom>
        </p:spPr>
        <p:txBody>
          <a:bodyPr vert="horz" wrap="square" lIns="0" tIns="13335" rIns="0" bIns="0" rtlCol="0">
            <a:spAutoFit/>
          </a:bodyPr>
          <a:lstStyle/>
          <a:p>
            <a:pPr marL="12700">
              <a:spcBef>
                <a:spcPts val="105"/>
              </a:spcBef>
            </a:pPr>
            <a:r>
              <a:rPr sz="2000" b="1" spc="-4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AI Follow-up &amp; Adaptive Interview Module</a:t>
            </a:r>
            <a:r>
              <a:rPr sz="2000" b="1" spc="-50" dirty="0">
                <a:latin typeface="Times New Roman" panose="02020603050405020304" pitchFamily="18" charset="0"/>
                <a:cs typeface="Times New Roman" panose="02020603050405020304" pitchFamily="18" charset="0"/>
              </a:rPr>
              <a:t>:</a:t>
            </a:r>
            <a:endParaRPr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128F1DA-C6B6-B3A1-2D34-BF08BFAFA75E}"/>
              </a:ext>
            </a:extLst>
          </p:cNvPr>
          <p:cNvSpPr txBox="1"/>
          <p:nvPr/>
        </p:nvSpPr>
        <p:spPr>
          <a:xfrm>
            <a:off x="838200" y="1809750"/>
            <a:ext cx="6477000" cy="1289071"/>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Generates follow-up questions from the previous answer.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Changes the difficulty according to user performance.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Provides a realistic interview experience.</a:t>
            </a:r>
          </a:p>
        </p:txBody>
      </p:sp>
    </p:spTree>
    <p:extLst>
      <p:ext uri="{BB962C8B-B14F-4D97-AF65-F5344CB8AC3E}">
        <p14:creationId xmlns:p14="http://schemas.microsoft.com/office/powerpoint/2010/main" val="405574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652B63-71AC-C3CF-FF3F-37697D4B1D47}"/>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404AD9A0-CC96-8E6D-0062-CC894D2ACB0B}"/>
              </a:ext>
            </a:extLst>
          </p:cNvPr>
          <p:cNvSpPr txBox="1">
            <a:spLocks noGrp="1"/>
          </p:cNvSpPr>
          <p:nvPr>
            <p:ph type="title"/>
          </p:nvPr>
        </p:nvSpPr>
        <p:spPr>
          <a:prstGeom prst="rect">
            <a:avLst/>
          </a:prstGeom>
        </p:spPr>
        <p:txBody>
          <a:bodyPr vert="horz" wrap="square" lIns="0" tIns="79171" rIns="0" bIns="0" rtlCol="0">
            <a:spAutoFit/>
          </a:bodyPr>
          <a:lstStyle/>
          <a:p>
            <a:pPr marL="810895">
              <a:lnSpc>
                <a:spcPct val="100000"/>
              </a:lnSpc>
              <a:spcBef>
                <a:spcPts val="95"/>
              </a:spcBef>
            </a:pPr>
            <a:r>
              <a:rPr dirty="0"/>
              <a:t>MODULE</a:t>
            </a:r>
            <a:r>
              <a:rPr spc="-55" dirty="0"/>
              <a:t> </a:t>
            </a:r>
            <a:r>
              <a:rPr spc="-10" dirty="0"/>
              <a:t>DESCRIPTION</a:t>
            </a:r>
          </a:p>
        </p:txBody>
      </p:sp>
      <p:pic>
        <p:nvPicPr>
          <p:cNvPr id="3" name="object 3">
            <a:extLst>
              <a:ext uri="{FF2B5EF4-FFF2-40B4-BE49-F238E27FC236}">
                <a16:creationId xmlns:a16="http://schemas.microsoft.com/office/drawing/2014/main" id="{C425D9DC-F696-D564-7C6C-1170F9CD054D}"/>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802E8598-5918-7636-AACE-97A48CA55601}"/>
              </a:ext>
            </a:extLst>
          </p:cNvPr>
          <p:cNvPicPr/>
          <p:nvPr/>
        </p:nvPicPr>
        <p:blipFill>
          <a:blip r:embed="rId3" cstate="print"/>
          <a:stretch>
            <a:fillRect/>
          </a:stretch>
        </p:blipFill>
        <p:spPr>
          <a:xfrm>
            <a:off x="8177783" y="256031"/>
            <a:ext cx="653796" cy="557784"/>
          </a:xfrm>
          <a:prstGeom prst="rect">
            <a:avLst/>
          </a:prstGeom>
        </p:spPr>
      </p:pic>
      <p:sp>
        <p:nvSpPr>
          <p:cNvPr id="5" name="object 5">
            <a:extLst>
              <a:ext uri="{FF2B5EF4-FFF2-40B4-BE49-F238E27FC236}">
                <a16:creationId xmlns:a16="http://schemas.microsoft.com/office/drawing/2014/main" id="{78176DB4-44D7-9AF5-56C9-97823B254BED}"/>
              </a:ext>
            </a:extLst>
          </p:cNvPr>
          <p:cNvSpPr txBox="1"/>
          <p:nvPr/>
        </p:nvSpPr>
        <p:spPr>
          <a:xfrm>
            <a:off x="390525" y="1066164"/>
            <a:ext cx="8144509" cy="321242"/>
          </a:xfrm>
          <a:prstGeom prst="rect">
            <a:avLst/>
          </a:prstGeom>
        </p:spPr>
        <p:txBody>
          <a:bodyPr vert="horz" wrap="square" lIns="0" tIns="13335" rIns="0" bIns="0" rtlCol="0">
            <a:spAutoFit/>
          </a:bodyPr>
          <a:lstStyle/>
          <a:p>
            <a:pPr marL="12700">
              <a:spcBef>
                <a:spcPts val="105"/>
              </a:spcBef>
            </a:pPr>
            <a:r>
              <a:rPr lang="en-IN" sz="2000" b="1" dirty="0">
                <a:latin typeface="Times New Roman" panose="02020603050405020304" pitchFamily="18" charset="0"/>
                <a:cs typeface="Times New Roman" panose="02020603050405020304" pitchFamily="18" charset="0"/>
              </a:rPr>
              <a:t>STAR &amp; Skill Gap Analysis Module</a:t>
            </a:r>
            <a:r>
              <a:rPr sz="2000" b="1" spc="-50" dirty="0">
                <a:latin typeface="Times New Roman" panose="02020603050405020304" pitchFamily="18" charset="0"/>
                <a:cs typeface="Times New Roman" panose="02020603050405020304" pitchFamily="18" charset="0"/>
              </a:rPr>
              <a:t>:</a:t>
            </a:r>
            <a:endParaRPr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2B285DA-14D6-108E-7A12-67CA5FD4614A}"/>
              </a:ext>
            </a:extLst>
          </p:cNvPr>
          <p:cNvSpPr txBox="1"/>
          <p:nvPr/>
        </p:nvSpPr>
        <p:spPr>
          <a:xfrm>
            <a:off x="838200" y="1809750"/>
            <a:ext cx="6477000" cy="1289071"/>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answers using the STAR method.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Identifies the user's strengths and weak areas.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Suggests areas for further improvement</a:t>
            </a:r>
          </a:p>
        </p:txBody>
      </p:sp>
    </p:spTree>
    <p:extLst>
      <p:ext uri="{BB962C8B-B14F-4D97-AF65-F5344CB8AC3E}">
        <p14:creationId xmlns:p14="http://schemas.microsoft.com/office/powerpoint/2010/main" val="2248619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CC1434-1FF4-50C8-9764-CB5B5A05B96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678217DE-1C24-8525-2F72-73721331A155}"/>
              </a:ext>
            </a:extLst>
          </p:cNvPr>
          <p:cNvSpPr txBox="1">
            <a:spLocks noGrp="1"/>
          </p:cNvSpPr>
          <p:nvPr>
            <p:ph type="title"/>
          </p:nvPr>
        </p:nvSpPr>
        <p:spPr>
          <a:prstGeom prst="rect">
            <a:avLst/>
          </a:prstGeom>
        </p:spPr>
        <p:txBody>
          <a:bodyPr vert="horz" wrap="square" lIns="0" tIns="79171" rIns="0" bIns="0" rtlCol="0">
            <a:spAutoFit/>
          </a:bodyPr>
          <a:lstStyle/>
          <a:p>
            <a:pPr marL="810895">
              <a:lnSpc>
                <a:spcPct val="100000"/>
              </a:lnSpc>
              <a:spcBef>
                <a:spcPts val="95"/>
              </a:spcBef>
            </a:pPr>
            <a:r>
              <a:rPr dirty="0"/>
              <a:t>MODULE</a:t>
            </a:r>
            <a:r>
              <a:rPr spc="-55" dirty="0"/>
              <a:t> </a:t>
            </a:r>
            <a:r>
              <a:rPr spc="-10" dirty="0"/>
              <a:t>DESCRIPTION</a:t>
            </a:r>
          </a:p>
        </p:txBody>
      </p:sp>
      <p:pic>
        <p:nvPicPr>
          <p:cNvPr id="3" name="object 3">
            <a:extLst>
              <a:ext uri="{FF2B5EF4-FFF2-40B4-BE49-F238E27FC236}">
                <a16:creationId xmlns:a16="http://schemas.microsoft.com/office/drawing/2014/main" id="{AE4AE0AD-07F6-0644-078B-8E0EE76BDF44}"/>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0B936235-A2A6-0790-8D22-6BB15858A75D}"/>
              </a:ext>
            </a:extLst>
          </p:cNvPr>
          <p:cNvPicPr/>
          <p:nvPr/>
        </p:nvPicPr>
        <p:blipFill>
          <a:blip r:embed="rId3" cstate="print"/>
          <a:stretch>
            <a:fillRect/>
          </a:stretch>
        </p:blipFill>
        <p:spPr>
          <a:xfrm>
            <a:off x="8177783" y="256031"/>
            <a:ext cx="653796" cy="557784"/>
          </a:xfrm>
          <a:prstGeom prst="rect">
            <a:avLst/>
          </a:prstGeom>
        </p:spPr>
      </p:pic>
      <p:sp>
        <p:nvSpPr>
          <p:cNvPr id="5" name="object 5">
            <a:extLst>
              <a:ext uri="{FF2B5EF4-FFF2-40B4-BE49-F238E27FC236}">
                <a16:creationId xmlns:a16="http://schemas.microsoft.com/office/drawing/2014/main" id="{960E4B72-BE44-6668-FFFC-158E5012D7F7}"/>
              </a:ext>
            </a:extLst>
          </p:cNvPr>
          <p:cNvSpPr txBox="1"/>
          <p:nvPr/>
        </p:nvSpPr>
        <p:spPr>
          <a:xfrm>
            <a:off x="390525" y="1066164"/>
            <a:ext cx="8144509" cy="321242"/>
          </a:xfrm>
          <a:prstGeom prst="rect">
            <a:avLst/>
          </a:prstGeom>
        </p:spPr>
        <p:txBody>
          <a:bodyPr vert="horz" wrap="square" lIns="0" tIns="13335" rIns="0" bIns="0" rtlCol="0">
            <a:spAutoFit/>
          </a:bodyPr>
          <a:lstStyle/>
          <a:p>
            <a:pPr marL="12700">
              <a:spcBef>
                <a:spcPts val="105"/>
              </a:spcBef>
            </a:pPr>
            <a:r>
              <a:rPr lang="en-IN" sz="2000" b="1" dirty="0">
                <a:latin typeface="Times New Roman" panose="02020603050405020304" pitchFamily="18" charset="0"/>
                <a:cs typeface="Times New Roman" panose="02020603050405020304" pitchFamily="18" charset="0"/>
              </a:rPr>
              <a:t>Performance Dashboard &amp; Interview History Module</a:t>
            </a:r>
            <a:r>
              <a:rPr sz="2000" b="1" spc="-50" dirty="0">
                <a:latin typeface="Times New Roman" panose="02020603050405020304" pitchFamily="18" charset="0"/>
                <a:cs typeface="Times New Roman" panose="02020603050405020304" pitchFamily="18" charset="0"/>
              </a:rPr>
              <a:t>:</a:t>
            </a:r>
            <a:endParaRPr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3A6A57F-3DC7-0B80-4BB7-E7DF2F370AF2}"/>
              </a:ext>
            </a:extLst>
          </p:cNvPr>
          <p:cNvSpPr txBox="1"/>
          <p:nvPr/>
        </p:nvSpPr>
        <p:spPr>
          <a:xfrm>
            <a:off x="914400" y="1639756"/>
            <a:ext cx="6400800" cy="1289071"/>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Stores previous interview results.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Displays scores and performance details.  </a:t>
            </a:r>
          </a:p>
          <a:p>
            <a:pPr marL="285750" lvl="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Shows overall interview readiness and feedback.</a:t>
            </a:r>
          </a:p>
        </p:txBody>
      </p:sp>
    </p:spTree>
    <p:extLst>
      <p:ext uri="{BB962C8B-B14F-4D97-AF65-F5344CB8AC3E}">
        <p14:creationId xmlns:p14="http://schemas.microsoft.com/office/powerpoint/2010/main" val="2732066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CC1434-1FF4-50C8-9764-CB5B5A05B96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678217DE-1C24-8525-2F72-73721331A155}"/>
              </a:ext>
            </a:extLst>
          </p:cNvPr>
          <p:cNvSpPr txBox="1">
            <a:spLocks noGrp="1"/>
          </p:cNvSpPr>
          <p:nvPr>
            <p:ph type="title"/>
          </p:nvPr>
        </p:nvSpPr>
        <p:spPr>
          <a:xfrm>
            <a:off x="1219200" y="141808"/>
            <a:ext cx="5634201" cy="464665"/>
          </a:xfrm>
          <a:prstGeom prst="rect">
            <a:avLst/>
          </a:prstGeom>
        </p:spPr>
        <p:txBody>
          <a:bodyPr vert="horz" wrap="square" lIns="0" tIns="79171" rIns="0" bIns="0" rtlCol="0">
            <a:spAutoFit/>
          </a:bodyPr>
          <a:lstStyle/>
          <a:p>
            <a:pPr marL="55563" algn="l">
              <a:lnSpc>
                <a:spcPct val="100000"/>
              </a:lnSpc>
              <a:spcBef>
                <a:spcPts val="95"/>
              </a:spcBef>
            </a:pPr>
            <a:r>
              <a:rPr lang="en-US" spc="-10" dirty="0"/>
              <a:t>   IMPLEMENTATION SCREENSHOT</a:t>
            </a:r>
            <a:endParaRPr spc="-10" dirty="0"/>
          </a:p>
        </p:txBody>
      </p:sp>
      <p:pic>
        <p:nvPicPr>
          <p:cNvPr id="3" name="object 3">
            <a:extLst>
              <a:ext uri="{FF2B5EF4-FFF2-40B4-BE49-F238E27FC236}">
                <a16:creationId xmlns:a16="http://schemas.microsoft.com/office/drawing/2014/main" id="{AE4AE0AD-07F6-0644-078B-8E0EE76BDF44}"/>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0B936235-A2A6-0790-8D22-6BB15858A75D}"/>
              </a:ext>
            </a:extLst>
          </p:cNvPr>
          <p:cNvPicPr/>
          <p:nvPr/>
        </p:nvPicPr>
        <p:blipFill>
          <a:blip r:embed="rId3" cstate="print"/>
          <a:stretch>
            <a:fillRect/>
          </a:stretch>
        </p:blipFill>
        <p:spPr>
          <a:xfrm>
            <a:off x="8177783" y="256031"/>
            <a:ext cx="653796" cy="557784"/>
          </a:xfrm>
          <a:prstGeom prst="rect">
            <a:avLst/>
          </a:prstGeom>
        </p:spPr>
      </p:pic>
      <p:pic>
        <p:nvPicPr>
          <p:cNvPr id="8" name="Picture 7">
            <a:extLst>
              <a:ext uri="{FF2B5EF4-FFF2-40B4-BE49-F238E27FC236}">
                <a16:creationId xmlns:a16="http://schemas.microsoft.com/office/drawing/2014/main" id="{F5ABA764-59DD-4A87-BE08-AB50C39009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416" y="965762"/>
            <a:ext cx="8014265" cy="3931920"/>
          </a:xfrm>
          <a:prstGeom prst="rect">
            <a:avLst/>
          </a:prstGeom>
        </p:spPr>
      </p:pic>
    </p:spTree>
    <p:extLst>
      <p:ext uri="{BB962C8B-B14F-4D97-AF65-F5344CB8AC3E}">
        <p14:creationId xmlns:p14="http://schemas.microsoft.com/office/powerpoint/2010/main" val="2906041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CC1434-1FF4-50C8-9764-CB5B5A05B96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678217DE-1C24-8525-2F72-73721331A155}"/>
              </a:ext>
            </a:extLst>
          </p:cNvPr>
          <p:cNvSpPr txBox="1">
            <a:spLocks noGrp="1"/>
          </p:cNvSpPr>
          <p:nvPr>
            <p:ph type="title"/>
          </p:nvPr>
        </p:nvSpPr>
        <p:spPr>
          <a:xfrm>
            <a:off x="1219200" y="141808"/>
            <a:ext cx="5634201" cy="464665"/>
          </a:xfrm>
          <a:prstGeom prst="rect">
            <a:avLst/>
          </a:prstGeom>
        </p:spPr>
        <p:txBody>
          <a:bodyPr vert="horz" wrap="square" lIns="0" tIns="79171" rIns="0" bIns="0" rtlCol="0">
            <a:spAutoFit/>
          </a:bodyPr>
          <a:lstStyle/>
          <a:p>
            <a:pPr marL="55563" algn="l">
              <a:lnSpc>
                <a:spcPct val="100000"/>
              </a:lnSpc>
              <a:spcBef>
                <a:spcPts val="95"/>
              </a:spcBef>
            </a:pPr>
            <a:r>
              <a:rPr lang="en-US" spc="-10" dirty="0"/>
              <a:t>   IMPLEMENTATION SCREENSHOT</a:t>
            </a:r>
            <a:endParaRPr spc="-10" dirty="0"/>
          </a:p>
        </p:txBody>
      </p:sp>
      <p:pic>
        <p:nvPicPr>
          <p:cNvPr id="3" name="object 3">
            <a:extLst>
              <a:ext uri="{FF2B5EF4-FFF2-40B4-BE49-F238E27FC236}">
                <a16:creationId xmlns:a16="http://schemas.microsoft.com/office/drawing/2014/main" id="{AE4AE0AD-07F6-0644-078B-8E0EE76BDF44}"/>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0B936235-A2A6-0790-8D22-6BB15858A75D}"/>
              </a:ext>
            </a:extLst>
          </p:cNvPr>
          <p:cNvPicPr/>
          <p:nvPr/>
        </p:nvPicPr>
        <p:blipFill>
          <a:blip r:embed="rId3" cstate="print"/>
          <a:stretch>
            <a:fillRect/>
          </a:stretch>
        </p:blipFill>
        <p:spPr>
          <a:xfrm>
            <a:off x="8177783" y="256031"/>
            <a:ext cx="653796" cy="557784"/>
          </a:xfrm>
          <a:prstGeom prst="rect">
            <a:avLst/>
          </a:prstGeom>
        </p:spPr>
      </p:pic>
      <p:pic>
        <p:nvPicPr>
          <p:cNvPr id="6" name="Picture 5">
            <a:extLst>
              <a:ext uri="{FF2B5EF4-FFF2-40B4-BE49-F238E27FC236}">
                <a16:creationId xmlns:a16="http://schemas.microsoft.com/office/drawing/2014/main" id="{6BE2B10D-35A0-4F81-91BE-45F2B9D625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064" y="978332"/>
            <a:ext cx="8131871" cy="4023360"/>
          </a:xfrm>
          <a:prstGeom prst="rect">
            <a:avLst/>
          </a:prstGeom>
        </p:spPr>
      </p:pic>
    </p:spTree>
    <p:extLst>
      <p:ext uri="{BB962C8B-B14F-4D97-AF65-F5344CB8AC3E}">
        <p14:creationId xmlns:p14="http://schemas.microsoft.com/office/powerpoint/2010/main" val="1049155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CC1434-1FF4-50C8-9764-CB5B5A05B96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678217DE-1C24-8525-2F72-73721331A155}"/>
              </a:ext>
            </a:extLst>
          </p:cNvPr>
          <p:cNvSpPr txBox="1">
            <a:spLocks noGrp="1"/>
          </p:cNvSpPr>
          <p:nvPr>
            <p:ph type="title"/>
          </p:nvPr>
        </p:nvSpPr>
        <p:spPr>
          <a:xfrm>
            <a:off x="1219200" y="141808"/>
            <a:ext cx="5634201" cy="464665"/>
          </a:xfrm>
          <a:prstGeom prst="rect">
            <a:avLst/>
          </a:prstGeom>
        </p:spPr>
        <p:txBody>
          <a:bodyPr vert="horz" wrap="square" lIns="0" tIns="79171" rIns="0" bIns="0" rtlCol="0">
            <a:spAutoFit/>
          </a:bodyPr>
          <a:lstStyle/>
          <a:p>
            <a:pPr marL="55563" algn="l">
              <a:lnSpc>
                <a:spcPct val="100000"/>
              </a:lnSpc>
              <a:spcBef>
                <a:spcPts val="95"/>
              </a:spcBef>
            </a:pPr>
            <a:r>
              <a:rPr lang="en-US" spc="-10" dirty="0"/>
              <a:t>   IMPLEMENTATION SCREENSHOT</a:t>
            </a:r>
            <a:endParaRPr spc="-10" dirty="0"/>
          </a:p>
        </p:txBody>
      </p:sp>
      <p:pic>
        <p:nvPicPr>
          <p:cNvPr id="3" name="object 3">
            <a:extLst>
              <a:ext uri="{FF2B5EF4-FFF2-40B4-BE49-F238E27FC236}">
                <a16:creationId xmlns:a16="http://schemas.microsoft.com/office/drawing/2014/main" id="{AE4AE0AD-07F6-0644-078B-8E0EE76BDF44}"/>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0B936235-A2A6-0790-8D22-6BB15858A75D}"/>
              </a:ext>
            </a:extLst>
          </p:cNvPr>
          <p:cNvPicPr/>
          <p:nvPr/>
        </p:nvPicPr>
        <p:blipFill>
          <a:blip r:embed="rId3" cstate="print"/>
          <a:stretch>
            <a:fillRect/>
          </a:stretch>
        </p:blipFill>
        <p:spPr>
          <a:xfrm>
            <a:off x="8177783" y="256031"/>
            <a:ext cx="653796" cy="557784"/>
          </a:xfrm>
          <a:prstGeom prst="rect">
            <a:avLst/>
          </a:prstGeom>
        </p:spPr>
      </p:pic>
      <p:pic>
        <p:nvPicPr>
          <p:cNvPr id="7" name="Picture 6">
            <a:extLst>
              <a:ext uri="{FF2B5EF4-FFF2-40B4-BE49-F238E27FC236}">
                <a16:creationId xmlns:a16="http://schemas.microsoft.com/office/drawing/2014/main" id="{FACDB5D7-BC01-4DC3-B994-DC3A2210CB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950815"/>
            <a:ext cx="8044472" cy="3931920"/>
          </a:xfrm>
          <a:prstGeom prst="rect">
            <a:avLst/>
          </a:prstGeom>
        </p:spPr>
      </p:pic>
    </p:spTree>
    <p:extLst>
      <p:ext uri="{BB962C8B-B14F-4D97-AF65-F5344CB8AC3E}">
        <p14:creationId xmlns:p14="http://schemas.microsoft.com/office/powerpoint/2010/main" val="741196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CC1434-1FF4-50C8-9764-CB5B5A05B96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678217DE-1C24-8525-2F72-73721331A155}"/>
              </a:ext>
            </a:extLst>
          </p:cNvPr>
          <p:cNvSpPr txBox="1">
            <a:spLocks noGrp="1"/>
          </p:cNvSpPr>
          <p:nvPr>
            <p:ph type="title"/>
          </p:nvPr>
        </p:nvSpPr>
        <p:spPr>
          <a:xfrm>
            <a:off x="1219200" y="141808"/>
            <a:ext cx="5634201" cy="464665"/>
          </a:xfrm>
          <a:prstGeom prst="rect">
            <a:avLst/>
          </a:prstGeom>
        </p:spPr>
        <p:txBody>
          <a:bodyPr vert="horz" wrap="square" lIns="0" tIns="79171" rIns="0" bIns="0" rtlCol="0">
            <a:spAutoFit/>
          </a:bodyPr>
          <a:lstStyle/>
          <a:p>
            <a:pPr marL="55563" algn="l">
              <a:lnSpc>
                <a:spcPct val="100000"/>
              </a:lnSpc>
              <a:spcBef>
                <a:spcPts val="95"/>
              </a:spcBef>
            </a:pPr>
            <a:r>
              <a:rPr lang="en-US" spc="-10" dirty="0"/>
              <a:t>   IMPLEMENTATION SCREENSHOT</a:t>
            </a:r>
            <a:endParaRPr spc="-10" dirty="0"/>
          </a:p>
        </p:txBody>
      </p:sp>
      <p:pic>
        <p:nvPicPr>
          <p:cNvPr id="3" name="object 3">
            <a:extLst>
              <a:ext uri="{FF2B5EF4-FFF2-40B4-BE49-F238E27FC236}">
                <a16:creationId xmlns:a16="http://schemas.microsoft.com/office/drawing/2014/main" id="{AE4AE0AD-07F6-0644-078B-8E0EE76BDF44}"/>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0B936235-A2A6-0790-8D22-6BB15858A75D}"/>
              </a:ext>
            </a:extLst>
          </p:cNvPr>
          <p:cNvPicPr/>
          <p:nvPr/>
        </p:nvPicPr>
        <p:blipFill>
          <a:blip r:embed="rId3" cstate="print"/>
          <a:stretch>
            <a:fillRect/>
          </a:stretch>
        </p:blipFill>
        <p:spPr>
          <a:xfrm>
            <a:off x="8177783" y="256031"/>
            <a:ext cx="653796" cy="557784"/>
          </a:xfrm>
          <a:prstGeom prst="rect">
            <a:avLst/>
          </a:prstGeom>
        </p:spPr>
      </p:pic>
      <p:pic>
        <p:nvPicPr>
          <p:cNvPr id="6" name="Picture 5">
            <a:extLst>
              <a:ext uri="{FF2B5EF4-FFF2-40B4-BE49-F238E27FC236}">
                <a16:creationId xmlns:a16="http://schemas.microsoft.com/office/drawing/2014/main" id="{037A4BCF-22BF-40C7-ADFC-9D759093E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906" y="887217"/>
            <a:ext cx="8170188" cy="4023360"/>
          </a:xfrm>
          <a:prstGeom prst="rect">
            <a:avLst/>
          </a:prstGeom>
        </p:spPr>
      </p:pic>
    </p:spTree>
    <p:extLst>
      <p:ext uri="{BB962C8B-B14F-4D97-AF65-F5344CB8AC3E}">
        <p14:creationId xmlns:p14="http://schemas.microsoft.com/office/powerpoint/2010/main" val="3455847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CC1434-1FF4-50C8-9764-CB5B5A05B96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678217DE-1C24-8525-2F72-73721331A155}"/>
              </a:ext>
            </a:extLst>
          </p:cNvPr>
          <p:cNvSpPr txBox="1">
            <a:spLocks noGrp="1"/>
          </p:cNvSpPr>
          <p:nvPr>
            <p:ph type="title"/>
          </p:nvPr>
        </p:nvSpPr>
        <p:spPr>
          <a:xfrm>
            <a:off x="1945004" y="141808"/>
            <a:ext cx="4908397" cy="464665"/>
          </a:xfrm>
          <a:prstGeom prst="rect">
            <a:avLst/>
          </a:prstGeom>
        </p:spPr>
        <p:txBody>
          <a:bodyPr vert="horz" wrap="square" lIns="0" tIns="79171" rIns="0" bIns="0" rtlCol="0">
            <a:spAutoFit/>
          </a:bodyPr>
          <a:lstStyle/>
          <a:p>
            <a:pPr marL="810895">
              <a:lnSpc>
                <a:spcPct val="100000"/>
              </a:lnSpc>
              <a:spcBef>
                <a:spcPts val="95"/>
              </a:spcBef>
            </a:pPr>
            <a:r>
              <a:rPr lang="en-US" dirty="0"/>
              <a:t>   CONCULSION</a:t>
            </a:r>
            <a:endParaRPr spc="-10" dirty="0"/>
          </a:p>
        </p:txBody>
      </p:sp>
      <p:pic>
        <p:nvPicPr>
          <p:cNvPr id="3" name="object 3">
            <a:extLst>
              <a:ext uri="{FF2B5EF4-FFF2-40B4-BE49-F238E27FC236}">
                <a16:creationId xmlns:a16="http://schemas.microsoft.com/office/drawing/2014/main" id="{AE4AE0AD-07F6-0644-078B-8E0EE76BDF44}"/>
              </a:ext>
            </a:extLst>
          </p:cNvPr>
          <p:cNvPicPr/>
          <p:nvPr/>
        </p:nvPicPr>
        <p:blipFill>
          <a:blip r:embed="rId2" cstate="print"/>
          <a:stretch>
            <a:fillRect/>
          </a:stretch>
        </p:blipFill>
        <p:spPr>
          <a:xfrm>
            <a:off x="316683" y="260765"/>
            <a:ext cx="735030" cy="594037"/>
          </a:xfrm>
          <a:prstGeom prst="rect">
            <a:avLst/>
          </a:prstGeom>
        </p:spPr>
      </p:pic>
      <p:pic>
        <p:nvPicPr>
          <p:cNvPr id="4" name="object 4">
            <a:extLst>
              <a:ext uri="{FF2B5EF4-FFF2-40B4-BE49-F238E27FC236}">
                <a16:creationId xmlns:a16="http://schemas.microsoft.com/office/drawing/2014/main" id="{0B936235-A2A6-0790-8D22-6BB15858A75D}"/>
              </a:ext>
            </a:extLst>
          </p:cNvPr>
          <p:cNvPicPr/>
          <p:nvPr/>
        </p:nvPicPr>
        <p:blipFill>
          <a:blip r:embed="rId3" cstate="print"/>
          <a:stretch>
            <a:fillRect/>
          </a:stretch>
        </p:blipFill>
        <p:spPr>
          <a:xfrm>
            <a:off x="8177783" y="256031"/>
            <a:ext cx="653796" cy="557784"/>
          </a:xfrm>
          <a:prstGeom prst="rect">
            <a:avLst/>
          </a:prstGeom>
        </p:spPr>
      </p:pic>
      <p:sp>
        <p:nvSpPr>
          <p:cNvPr id="12" name="TextBox 11">
            <a:extLst>
              <a:ext uri="{FF2B5EF4-FFF2-40B4-BE49-F238E27FC236}">
                <a16:creationId xmlns:a16="http://schemas.microsoft.com/office/drawing/2014/main" id="{12078A2E-A916-47C2-88EE-889FBF2EA9D0}"/>
              </a:ext>
            </a:extLst>
          </p:cNvPr>
          <p:cNvSpPr txBox="1"/>
          <p:nvPr/>
        </p:nvSpPr>
        <p:spPr>
          <a:xfrm>
            <a:off x="762000" y="1000820"/>
            <a:ext cx="7620000" cy="212006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The Smart AI Interview Practice Portal provides an intelligent and personalized platform for interview preparation. It evaluates answers, provides instant feedback, identifies skill gaps, and tracks performance. Overall, it helps students improve their confidence, communication, technical skills, and interview readiness.</a:t>
            </a:r>
          </a:p>
        </p:txBody>
      </p:sp>
    </p:spTree>
    <p:extLst>
      <p:ext uri="{BB962C8B-B14F-4D97-AF65-F5344CB8AC3E}">
        <p14:creationId xmlns:p14="http://schemas.microsoft.com/office/powerpoint/2010/main" val="2882321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41270" y="1884146"/>
            <a:ext cx="4062095" cy="697230"/>
          </a:xfrm>
          <a:prstGeom prst="rect">
            <a:avLst/>
          </a:prstGeom>
        </p:spPr>
        <p:txBody>
          <a:bodyPr vert="horz" wrap="square" lIns="0" tIns="13335" rIns="0" bIns="0" rtlCol="0">
            <a:spAutoFit/>
          </a:bodyPr>
          <a:lstStyle/>
          <a:p>
            <a:pPr marL="12700">
              <a:lnSpc>
                <a:spcPct val="100000"/>
              </a:lnSpc>
              <a:spcBef>
                <a:spcPts val="105"/>
              </a:spcBef>
            </a:pPr>
            <a:r>
              <a:rPr sz="4400" i="1" dirty="0">
                <a:solidFill>
                  <a:srgbClr val="851F0B"/>
                </a:solidFill>
                <a:latin typeface="Arial"/>
                <a:cs typeface="Arial"/>
              </a:rPr>
              <a:t>THANK</a:t>
            </a:r>
            <a:r>
              <a:rPr sz="4400" i="1" spc="-25" dirty="0">
                <a:solidFill>
                  <a:srgbClr val="851F0B"/>
                </a:solidFill>
                <a:latin typeface="Arial"/>
                <a:cs typeface="Arial"/>
              </a:rPr>
              <a:t> </a:t>
            </a:r>
            <a:r>
              <a:rPr sz="4400" i="1" dirty="0">
                <a:solidFill>
                  <a:srgbClr val="851F0B"/>
                </a:solidFill>
                <a:latin typeface="Arial"/>
                <a:cs typeface="Arial"/>
              </a:rPr>
              <a:t>YOU</a:t>
            </a:r>
            <a:r>
              <a:rPr sz="4400" i="1" spc="-20" dirty="0">
                <a:solidFill>
                  <a:srgbClr val="851F0B"/>
                </a:solidFill>
                <a:latin typeface="Arial"/>
                <a:cs typeface="Arial"/>
              </a:rPr>
              <a:t> </a:t>
            </a:r>
            <a:r>
              <a:rPr sz="4400" i="1" spc="-25" dirty="0">
                <a:solidFill>
                  <a:srgbClr val="851F0B"/>
                </a:solidFill>
                <a:latin typeface="Arial"/>
                <a:cs typeface="Arial"/>
              </a:rPr>
              <a:t>!!!</a:t>
            </a:r>
            <a:endParaRPr sz="44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130</TotalTime>
  <Words>476</Words>
  <Application>Microsoft Office PowerPoint</Application>
  <PresentationFormat>On-screen Show (16:9)</PresentationFormat>
  <Paragraphs>74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MS UI Gothic</vt:lpstr>
      <vt:lpstr>Arial</vt:lpstr>
      <vt:lpstr>Noto Sans Symbols</vt:lpstr>
      <vt:lpstr>Times New Roman</vt:lpstr>
      <vt:lpstr>Wingdings</vt:lpstr>
      <vt:lpstr>Office Theme</vt:lpstr>
      <vt:lpstr>SMART AI  INTERVIEW PRATICE PROTAL USING AIPS</vt:lpstr>
      <vt:lpstr>PRESENTATION OVERVIEW</vt:lpstr>
      <vt:lpstr>PROBLEM STATEMENT</vt:lpstr>
      <vt:lpstr>PowerPoint Presentation</vt:lpstr>
      <vt:lpstr>LITERATURE SURVEY</vt:lpstr>
      <vt:lpstr>EXISTING SYSTEM</vt:lpstr>
      <vt:lpstr>SYSTEM ARCHITECTURE</vt:lpstr>
      <vt:lpstr>PROPOSED SYSTEM</vt:lpstr>
      <vt:lpstr>LIST OF MODULES </vt:lpstr>
      <vt:lpstr>MODULE DESCRIPTION</vt:lpstr>
      <vt:lpstr>MODULE DESCRIPTION</vt:lpstr>
      <vt:lpstr>MODULE DESCRIPTION</vt:lpstr>
      <vt:lpstr>MODULE DESCRIPTION</vt:lpstr>
      <vt:lpstr>MODULE DESCRIPTION</vt:lpstr>
      <vt:lpstr>   IMPLEMENTATION SCREENSHOT</vt:lpstr>
      <vt:lpstr>   IMPLEMENTATION SCREENSHOT</vt:lpstr>
      <vt:lpstr>   IMPLEMENTATION SCREENSHOT</vt:lpstr>
      <vt:lpstr>   IMPLEMENTATION SCREENSHOT</vt:lpstr>
      <vt:lpstr>   CONCULSION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AI  INTERVIEW PRATICE PROTAL USING AIPS</dc:title>
  <dc:creator>Pradeep k</dc:creator>
  <dc:description/>
  <cp:lastModifiedBy>Administrator</cp:lastModifiedBy>
  <cp:revision>9</cp:revision>
  <dcterms:created xsi:type="dcterms:W3CDTF">2026-08-06T03:33:20Z</dcterms:created>
  <dcterms:modified xsi:type="dcterms:W3CDTF">2026-10-05T09:18:55Z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2026-08-05T00:00:00Z</vt:filetime>
  </property>
  <property fmtid="{D5CDD505-2E9C-101B-9397-08002B2CF9AE}" pid="4" name="Creator">
    <vt:lpwstr>WPS Presentation</vt:lpwstr>
  </property>
  <property fmtid="{D5CDD505-2E9C-101B-9397-08002B2CF9AE}" pid="5" name="LastSaved">
    <vt:filetime>2026-08-06T00:00:00Z</vt:filetime>
  </property>
  <property fmtid="{D5CDD505-2E9C-101B-9397-08002B2CF9AE}" pid="6" name="SourceModified">
    <vt:lpwstr>D:20260805113003+05'30'</vt:lpwstr>
  </property>
</Properties>
</file>